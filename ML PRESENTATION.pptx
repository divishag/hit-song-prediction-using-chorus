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2B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 snapToGrid="0" snapToObjects="1">
      <p:cViewPr varScale="1">
        <p:scale>
          <a:sx n="110" d="100"/>
          <a:sy n="110" d="100"/>
        </p:scale>
        <p:origin x="1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957720" y="313119"/>
            <a:ext cx="723550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rPr lang="en-IN" dirty="0"/>
              <a:t>DEPT. OF COMPUTER SCIENCE AND ENGINEERING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6F2B32"/>
                </a:solidFill>
                <a:latin typeface="Aptos Display"/>
              </a:defRPr>
            </a:pPr>
            <a:r>
              <a:t>Hit Song Prediction Using Chorus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69848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Course:</a:t>
            </a:r>
            <a:r>
              <a:rPr sz="2000">
                <a:solidFill/>
              </a:rPr>
              <a:t> UE24CS352A – Machine Learning Mini-Project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Team:</a:t>
            </a:r>
            <a:r>
              <a:rPr sz="2000">
                <a:solidFill/>
              </a:rPr>
              <a:t> [Divisha Guptha, PES1UG24CS158] , [Sharath HG , PES1UG25CS844]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Section / Problem No.</a:t>
            </a:r>
            <a:r>
              <a:rPr lang="en-IN" sz="2000" dirty="0"/>
              <a:t> </a:t>
            </a:r>
            <a:r>
              <a:rPr sz="2000" dirty="0"/>
              <a:t>: </a:t>
            </a:r>
            <a:r>
              <a:rPr lang="en-IN" sz="2000" dirty="0"/>
              <a:t>C</a:t>
            </a:r>
            <a:r>
              <a:rPr sz="2000" dirty="0"/>
              <a:t> / </a:t>
            </a:r>
            <a:r>
              <a:rPr lang="en-IN" sz="2000" dirty="0"/>
              <a:t>48</a:t>
            </a:r>
            <a:endParaRPr sz="2000" dirty="0"/>
          </a:p>
          <a:p>
            <a:pPr>
              <a:lnSpc>
                <a:spcPct val="100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Adapted from:</a:t>
            </a:r>
            <a:r>
              <a:rPr sz="2000">
                <a:solidFill/>
              </a:rPr>
              <a:t> E. Liu, “Predicting Hit Songs Using Repeated Chorus”, Stanford CS229, Spring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• Problem Statement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• Research Reference: Stanford CS229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• Dataset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• Methodology and Pipeline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• Features and Preprocessing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• Models and Evaluation Protocol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• Results and Analysis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• Code Structure and Live Demo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dirty="0"/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Many hit-song studies rely on metadata about the artist or the song. We test whether the audio of a single 15-second chorus is enough to predict a hit.</a:t>
            </a:r>
          </a:p>
          <a:p>
            <a:pPr lvl="1">
              <a:spcAft>
                <a:spcPts val="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rPr sz="2000" dirty="0">
                <a:solidFill/>
              </a:rPr>
              <a:t>• </a:t>
            </a:r>
            <a:r>
              <a:rPr sz="2000" b="1" dirty="0">
                <a:solidFill/>
              </a:rPr>
              <a:t>Task:</a:t>
            </a:r>
            <a:r>
              <a:rPr sz="2000" dirty="0">
                <a:solidFill/>
              </a:rPr>
              <a:t> binary classification – hit (1) or non-hit (0).</a:t>
            </a:r>
          </a:p>
          <a:p>
            <a:pPr lvl="1">
              <a:spcAft>
                <a:spcPts val="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rPr sz="2000" dirty="0">
                <a:solidFill/>
              </a:rPr>
              <a:t>• </a:t>
            </a:r>
            <a:r>
              <a:rPr sz="2000" b="1" dirty="0">
                <a:solidFill/>
              </a:rPr>
              <a:t>Hit definition:</a:t>
            </a:r>
            <a:r>
              <a:rPr sz="2000" dirty="0">
                <a:solidFill/>
              </a:rPr>
              <a:t> the song appeared on the Billboard Hot 100.</a:t>
            </a:r>
          </a:p>
          <a:p>
            <a:pPr lvl="1">
              <a:spcAft>
                <a:spcPts val="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rPr sz="2000" dirty="0">
                <a:solidFill/>
              </a:rPr>
              <a:t>• </a:t>
            </a:r>
            <a:r>
              <a:rPr sz="2000" b="1" dirty="0">
                <a:solidFill/>
              </a:rPr>
              <a:t>Inputs:</a:t>
            </a:r>
            <a:r>
              <a:rPr sz="2000" dirty="0">
                <a:solidFill/>
              </a:rPr>
              <a:t> acoustic features of the chorus only – no artist popularity, social-media signals or other metadata.</a:t>
            </a:r>
          </a:p>
          <a:p>
            <a:pPr lvl="1">
              <a:spcAft>
                <a:spcPts val="600"/>
              </a:spcAft>
              <a:defRPr sz="1750">
                <a:solidFill>
                  <a:srgbClr val="2D2D2D"/>
                </a:solidFill>
                <a:latin typeface="Aptos"/>
              </a:defRPr>
            </a:pPr>
            <a:r>
              <a:rPr sz="2000" dirty="0">
                <a:solidFill/>
              </a:rPr>
              <a:t>• </a:t>
            </a:r>
            <a:r>
              <a:rPr sz="2000" b="1" dirty="0">
                <a:solidFill/>
              </a:rPr>
              <a:t>Goal:</a:t>
            </a:r>
            <a:r>
              <a:rPr sz="2000" dirty="0">
                <a:solidFill/>
              </a:rPr>
              <a:t> a leakage-free pipeline, a fair comparison of seven model families, and honest held-out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10972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548 songs</a:t>
            </a:r>
            <a:r>
              <a:rPr sz="2000">
                <a:solidFill/>
              </a:rPr>
              <a:t> from seven artists: </a:t>
            </a:r>
            <a:r>
              <a:rPr sz="2000" b="1">
                <a:solidFill/>
              </a:rPr>
              <a:t>347 hits</a:t>
            </a:r>
            <a:r>
              <a:rPr sz="2000">
                <a:solidFill/>
              </a:rPr>
              <a:t> (63.3%) and </a:t>
            </a:r>
            <a:r>
              <a:rPr sz="2000" b="1">
                <a:solidFill/>
              </a:rPr>
              <a:t>201 non-hits</a:t>
            </a:r>
            <a:r>
              <a:rPr sz="2000">
                <a:solidFill/>
              </a:rPr>
              <a:t> (36.7%).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Hit (1):</a:t>
            </a:r>
            <a:r>
              <a:rPr sz="2000">
                <a:solidFill/>
              </a:rPr>
              <a:t> appeared on the Billboard Hot 100. </a:t>
            </a:r>
            <a:r>
              <a:rPr sz="2000" b="1">
                <a:solidFill/>
              </a:rPr>
              <a:t>Non-hit (0):</a:t>
            </a:r>
            <a:r>
              <a:rPr sz="2000">
                <a:solidFill/>
              </a:rPr>
              <a:t> other album tracks by the same artists.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Split:</a:t>
            </a:r>
            <a:r>
              <a:rPr sz="2000">
                <a:solidFill/>
              </a:rPr>
              <a:t> stratified 75/25, random_state=42 → 411 training songs (260 hits, 151 non-hits) and 137 test songs (87 hits, 50 non-hits), with no overlap.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Baseline:</a:t>
            </a:r>
            <a:r>
              <a:rPr sz="2000">
                <a:solidFill/>
              </a:rPr>
              <a:t> always predicting “hit” on the test set gives 63.5% accuracy (87 of 137).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649" y="2886956"/>
            <a:ext cx="6670701" cy="27747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893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69645F"/>
                </a:solidFill>
                <a:latin typeface="Aptos"/>
              </a:defRPr>
            </a:pPr>
            <a:r>
              <a:rPr dirty="0"/>
              <a:t>Figure: songs per artist (hits vs. non-hits) and the stratified train/test split.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t>Methodology: 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5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359" y="1051560"/>
            <a:ext cx="6977385" cy="41650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86400"/>
            <a:ext cx="10698480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Scaling, PCA and tuning use the training songs only.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The 137-song test set is scored once, at the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rPr>
                <a:solidFill/>
              </a:rPr>
              <a:t>Features: 518 </a:t>
            </a:r>
            <a:r>
              <a:rPr b="1">
                <a:solidFill/>
              </a:rPr>
              <a:t>Librosa</a:t>
            </a:r>
            <a:r>
              <a:rPr>
                <a:solidFill/>
              </a:rPr>
              <a:t> Descriptors per Chorus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109728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Each 15-second clip is described by </a:t>
            </a:r>
            <a:r>
              <a:rPr sz="2000" b="1">
                <a:solidFill/>
              </a:rPr>
              <a:t>11 Librosa feature families</a:t>
            </a:r>
            <a:r>
              <a:rPr sz="2000">
                <a:solidFill/>
              </a:rPr>
              <a:t> (74 raw dimensions per time frame).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Every raw dimension is summarised by </a:t>
            </a:r>
            <a:r>
              <a:rPr sz="2000" b="1">
                <a:solidFill/>
              </a:rPr>
              <a:t>7 statistics</a:t>
            </a:r>
            <a:r>
              <a:rPr sz="2000">
                <a:solidFill/>
              </a:rPr>
              <a:t>: minimum, mean, median, maximum, standard deviation, skewness and kurtosis.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6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74 × 7 = </a:t>
            </a:r>
            <a:r>
              <a:rPr sz="2000" b="1">
                <a:solidFill/>
              </a:rPr>
              <a:t>518 features per song</a:t>
            </a:r>
            <a:r>
              <a:rPr sz="2000">
                <a:solidFill/>
              </a:rPr>
              <a:t>, independent of clip length and sampling rate (same dimensionality as Stanford).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926" y="3154679"/>
            <a:ext cx="5440362" cy="30052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560" y="62453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69645F"/>
                </a:solidFill>
                <a:latin typeface="Aptos"/>
              </a:defRPr>
            </a:pPr>
            <a:r>
              <a:rPr>
                <a:solidFill/>
              </a:rPr>
              <a:t>Figure: feature count per </a:t>
            </a:r>
            <a:r>
              <a:rPr b="1">
                <a:solidFill/>
              </a:rPr>
              <a:t>Librosa</a:t>
            </a:r>
            <a:r>
              <a:rPr>
                <a:solidFill/>
              </a:rPr>
              <a:t> family; the </a:t>
            </a:r>
            <a:r>
              <a:rPr b="1">
                <a:solidFill/>
              </a:rPr>
              <a:t>11 </a:t>
            </a:r>
            <a:r>
              <a:rPr>
                <a:solidFill/>
              </a:rPr>
              <a:t>families add up to 518.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rPr>
                <a:solidFill/>
              </a:rPr>
              <a:t>Preprocessing: </a:t>
            </a:r>
            <a:r>
              <a:rPr b="1">
                <a:solidFill/>
              </a:rPr>
              <a:t>StandardScaler</a:t>
            </a:r>
            <a:r>
              <a:rPr>
                <a:solidFill/>
              </a:rPr>
              <a:t> and PCA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7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20" y="1051559"/>
            <a:ext cx="8749879" cy="36301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447" y="5031536"/>
            <a:ext cx="109728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StandardScaler</a:t>
            </a:r>
            <a:r>
              <a:rPr sz="2000">
                <a:solidFill/>
              </a:rPr>
              <a:t>: puts all 518 features on a common scale.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PCA:</a:t>
            </a:r>
            <a:r>
              <a:rPr sz="2000">
                <a:solidFill/>
              </a:rPr>
              <a:t> keeps the components explaining 95% of the variance – 518 features → </a:t>
            </a:r>
            <a:r>
              <a:rPr sz="2000" b="1">
                <a:solidFill/>
              </a:rPr>
              <a:t>136 components</a:t>
            </a:r>
            <a:r>
              <a:rPr sz="2000">
                <a:solidFill/>
              </a:rPr>
              <a:t>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Why reduce:</a:t>
            </a:r>
            <a:r>
              <a:rPr sz="2000">
                <a:solidFill/>
              </a:rPr>
              <a:t> 411 training songs against 518 correlated features invites overfitting.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9295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rPr dirty="0">
                <a:solidFill>
                  <a:srgbClr val="6F2B32"/>
                </a:solidFill>
              </a:rPr>
              <a:t>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8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259" y="987552"/>
            <a:ext cx="5973001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4892040"/>
            <a:ext cx="109728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Shrinkage LDA</a:t>
            </a:r>
            <a:r>
              <a:rPr sz="2000">
                <a:solidFill/>
              </a:rPr>
              <a:t> is the Stanford-style model: the covariance is shrunk toward a scalar matrix.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Standard LDA</a:t>
            </a:r>
            <a:r>
              <a:rPr sz="2000">
                <a:solidFill/>
              </a:rPr>
              <a:t> is our additional experiment, to check whether shrinkage was needed. Both are reported.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SVM:</a:t>
            </a:r>
            <a:r>
              <a:rPr sz="2000">
                <a:solidFill/>
              </a:rPr>
              <a:t> linear, RBF and polynomial kernels were evaluated.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Keras NN:</a:t>
            </a:r>
            <a:r>
              <a:rPr sz="2000">
                <a:solidFill/>
              </a:rPr>
              <a:t> two hidden layers, dropout and L2 regularisation.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rPr dirty="0"/>
              <a:t>Tuning and Evaluation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9</a:t>
            </a:r>
          </a:p>
        </p:txBody>
      </p:sp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92124"/>
            <a:ext cx="7502091" cy="3690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03284" y="1801294"/>
            <a:ext cx="3485796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000" dirty="0">
                <a:solidFill/>
              </a:rPr>
              <a:t>• </a:t>
            </a:r>
            <a:r>
              <a:rPr sz="2000" b="1" dirty="0">
                <a:solidFill/>
              </a:rPr>
              <a:t>Tuning metric:</a:t>
            </a:r>
            <a:r>
              <a:rPr sz="2000" dirty="0">
                <a:solidFill/>
              </a:rPr>
              <a:t> balanced accuracy, because hits outnumber non-hits 347 to 201.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000" dirty="0">
                <a:solidFill/>
              </a:rPr>
              <a:t>• </a:t>
            </a:r>
            <a:r>
              <a:rPr sz="2000" b="1" dirty="0">
                <a:solidFill/>
              </a:rPr>
              <a:t>Test metrics:</a:t>
            </a:r>
            <a:r>
              <a:rPr sz="2000" dirty="0">
                <a:solidFill/>
              </a:rPr>
              <a:t> accuracy, precision, recall and F1.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F9EEB5-57E9-627A-FC2D-A49E445C6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4847685"/>
            <a:ext cx="7502091" cy="18091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77D550-456A-0072-CC58-9FF152F6996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CC2111-393E-80C1-2779-ECDA21C0B2BC}"/>
              </a:ext>
            </a:extLst>
          </p:cNvPr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980E2-2B6D-2ED5-F789-3EF60B20F5C0}"/>
              </a:ext>
            </a:extLst>
          </p:cNvPr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1AFB86-198A-0A02-7C1C-B8144D5905B1}"/>
              </a:ext>
            </a:extLst>
          </p:cNvPr>
          <p:cNvSpPr txBox="1"/>
          <p:nvPr/>
        </p:nvSpPr>
        <p:spPr>
          <a:xfrm>
            <a:off x="502920" y="219456"/>
            <a:ext cx="596201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500" b="1" dirty="0">
                <a:solidFill>
                  <a:srgbClr val="6F2B32"/>
                </a:solidFill>
              </a:rPr>
              <a:t>Slide 10: Results on the 137 Held-Out Songs</a:t>
            </a:r>
            <a:endParaRPr lang="en-IN" sz="2500" b="1" dirty="0">
              <a:solidFill>
                <a:srgbClr val="6F2B32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9699FE-5F6F-C28B-9865-EFF279758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7134"/>
            <a:ext cx="11109960" cy="46314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A80FCC-AD11-91A8-CBF4-5DB157D40828}"/>
              </a:ext>
            </a:extLst>
          </p:cNvPr>
          <p:cNvSpPr txBox="1"/>
          <p:nvPr/>
        </p:nvSpPr>
        <p:spPr>
          <a:xfrm>
            <a:off x="3025749" y="5812452"/>
            <a:ext cx="61401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buNone/>
            </a:pPr>
            <a:r>
              <a:rPr lang="en-US" sz="1000" i="1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Figure: test accuracy, precision, recall and F1 for every model.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136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t>Results on the 137 Held-Out Songs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10</a:t>
            </a:r>
          </a:p>
        </p:txBody>
      </p:sp>
      <p:pic>
        <p:nvPicPr>
          <p:cNvPr id="6" name="Picture 5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35" y="960120"/>
            <a:ext cx="10789920" cy="4751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89320"/>
            <a:ext cx="10789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>
                <a:solidFill/>
              </a:rPr>
              <a:t>• </a:t>
            </a:r>
            <a:r>
              <a:rPr sz="2000" b="1">
                <a:solidFill/>
              </a:rPr>
              <a:t>Best accuracy and F1:</a:t>
            </a:r>
            <a:r>
              <a:rPr sz="2000">
                <a:solidFill/>
              </a:rPr>
              <a:t> Standard LDA. </a:t>
            </a:r>
            <a:r>
              <a:rPr sz="2000" b="1">
                <a:solidFill/>
              </a:rPr>
              <a:t>Best recall:</a:t>
            </a:r>
            <a:r>
              <a:rPr sz="2000">
                <a:solidFill/>
              </a:rPr>
              <a:t> Elastic-Net LR. </a:t>
            </a:r>
            <a:r>
              <a:rPr sz="2000" b="1">
                <a:solidFill/>
              </a:rPr>
              <a:t>Best precision:</a:t>
            </a:r>
            <a:r>
              <a:rPr sz="2000">
                <a:solidFill/>
              </a:rPr>
              <a:t> Random Forest.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6F2B32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0392"/>
            <a:ext cx="11109960" cy="22860"/>
          </a:xfrm>
          <a:prstGeom prst="rect">
            <a:avLst/>
          </a:prstGeom>
          <a:solidFill>
            <a:srgbClr val="6F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45F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18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Chorus-only audio carries real signal: best test accuracy 77.37% and F1 82.08%, against a 63.5% always-“hit” baseline.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8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Standard LDA scored best; SVM, Elastic-Net LR, shrinkage LDA and Random Forest were close (75.18–75.91% accuracy).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8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Simpler models </a:t>
            </a:r>
            <a:r>
              <a:rPr sz="2000" dirty="0" err="1"/>
              <a:t>generalised</a:t>
            </a:r>
            <a:r>
              <a:rPr sz="2000" dirty="0"/>
              <a:t> better than the neural network and Gradient Boosting on this small dataset.</a:t>
            </a:r>
            <a:endParaRPr lang="en-US" sz="2000" dirty="0"/>
          </a:p>
          <a:p>
            <a:pPr>
              <a:lnSpc>
                <a:spcPct val="100000"/>
              </a:lnSpc>
              <a:spcAft>
                <a:spcPts val="1000"/>
              </a:spcAft>
              <a:defRPr sz="1850">
                <a:solidFill>
                  <a:srgbClr val="2D2D2D"/>
                </a:solidFill>
                <a:latin typeface="Aptos"/>
              </a:defRPr>
            </a:pPr>
            <a:endParaRPr lang="en-US" sz="2000" dirty="0"/>
          </a:p>
          <a:p>
            <a:pPr>
              <a:lnSpc>
                <a:spcPct val="100000"/>
              </a:lnSpc>
              <a:spcAft>
                <a:spcPts val="1000"/>
              </a:spcAft>
              <a:defRPr sz="1850">
                <a:solidFill>
                  <a:srgbClr val="2D2D2D"/>
                </a:solidFill>
                <a:latin typeface="Aptos"/>
              </a:defRPr>
            </a:pPr>
            <a:endParaRPr lang="en-US" sz="2000" dirty="0"/>
          </a:p>
          <a:p>
            <a:pPr>
              <a:lnSpc>
                <a:spcPct val="100000"/>
              </a:lnSpc>
              <a:spcAft>
                <a:spcPts val="1000"/>
              </a:spcAft>
              <a:defRPr sz="1850">
                <a:solidFill>
                  <a:srgbClr val="2D2D2D"/>
                </a:solidFill>
                <a:latin typeface="Aptos"/>
              </a:defRPr>
            </a:pPr>
            <a:endParaRPr lang="en-US" sz="2000" dirty="0"/>
          </a:p>
          <a:p>
            <a:pPr algn="ctr">
              <a:lnSpc>
                <a:spcPct val="100000"/>
              </a:lnSpc>
              <a:spcAft>
                <a:spcPts val="1000"/>
              </a:spcAft>
              <a:defRPr sz="1850">
                <a:solidFill>
                  <a:srgbClr val="2D2D2D"/>
                </a:solidFill>
                <a:latin typeface="Aptos"/>
              </a:defRPr>
            </a:pPr>
            <a:r>
              <a:rPr lang="en-US" sz="2000"/>
              <a:t>Thank you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718</Words>
  <Application>Microsoft Macintosh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RR S&amp;H 2nd Sem P7 DIVISHA GUPTA</cp:lastModifiedBy>
  <cp:revision>4</cp:revision>
  <dcterms:created xsi:type="dcterms:W3CDTF">2013-01-27T09:14:16Z</dcterms:created>
  <dcterms:modified xsi:type="dcterms:W3CDTF">2026-10-13T16:03:54Z</dcterms:modified>
  <cp:category/>
</cp:coreProperties>
</file>